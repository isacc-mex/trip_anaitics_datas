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4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486400" cy="5486400"/>
          </a:xfrm>
          <a:prstGeom prst="ellipse">
            <a:avLst/>
          </a:prstGeom>
          <a:solidFill>
            <a:srgbClr val="9B7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F06A6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9B70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PATH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datos aplicada a un videojuego con monetización: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base de datos a los dashboards de negocio y de jugador.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ANALÍTICA DE DATOS PARA NEGOCIOS DIGITALES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TRIP y por qué se construyó como app web?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es un videojuego narrativo 2D </a:t>
            </a:r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temática psicológica y social, que se monetiza mediante una </a:t>
            </a:r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de artículos virtuales</a:t>
            </a:r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la propia aplicación.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no tenía visibilidad de negocio: no sabía </a:t>
            </a:r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F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porcentaje de jugadores llega a comprar</a:t>
            </a:r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 qué patrones de juego (tiempo jugado, mapas alcanzados, frecuencia) se relacionan con esa decisión.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construyó una aplicación web completa: no solo el juego, sino también el sistema de cuentas, la tienda, y una capa de analítica con dashboards para el dueño del negocio y para cada jugador.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691640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4888" y="1920240"/>
            <a:ext cx="566928" cy="566928"/>
          </a:xfrm>
          <a:prstGeom prst="ellipse">
            <a:avLst/>
          </a:prstGeom>
          <a:solidFill>
            <a:srgbClr val="9B70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951" y="205630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0" y="1837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0" y="20939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 2D gratuito + tienda in-app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03720" y="2880360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04888" y="3108960"/>
            <a:ext cx="566928" cy="56692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951" y="3245023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863840" y="32826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registrados vía Supabase Auth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903720" y="4069080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04888" y="4297680"/>
            <a:ext cx="566928" cy="56692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951" y="443374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0" y="4215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MONETIZACIÓN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863840" y="447141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única de artículos virtuales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903720" y="5257800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04888" y="5486400"/>
            <a:ext cx="566928" cy="566928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951" y="5622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0" y="5404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863840" y="56601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dueño + dashboard jugador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ANALÍTICO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al negocio: qué preguntas responde TRIP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191927"/>
          </a:solidFill>
          <a:ln w="12700">
            <a:solidFill>
              <a:srgbClr val="9B7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640080" cy="640080"/>
          </a:xfrm>
          <a:prstGeom prst="ellipse">
            <a:avLst/>
          </a:prstGeom>
          <a:solidFill>
            <a:srgbClr val="9B70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05557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97228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comportamiento de registro, juego y compra de los jugadores para identificar patrones de retención y conversión, y así apoyar decisiones sobre la tienda, el ritmo del juego y la monetización.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32575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099816"/>
            <a:ext cx="4724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% de jugadores registrados llega a comprar?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78728" y="3154680"/>
            <a:ext cx="457200" cy="457200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icons/ti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98" y="32575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0520" y="3099816"/>
            <a:ext cx="4724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ticket promedio y cómo cambia en el tiempo?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icons/heartb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30911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4151376"/>
            <a:ext cx="4724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proporción sigue activa a 1, 7 y 30 días?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278728" y="4206240"/>
            <a:ext cx="457200" cy="457200"/>
          </a:xfrm>
          <a:prstGeom prst="ellipse">
            <a:avLst/>
          </a:prstGeom>
          <a:solidFill>
            <a:srgbClr val="F06A6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598" y="430911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0520" y="4151376"/>
            <a:ext cx="4724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mapas concentran más abandono o muerte?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5" descr="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" y="5360670"/>
            <a:ext cx="251460" cy="2514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70432" y="5202936"/>
            <a:ext cx="4724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días y horas concentran mayor actividad?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278728" y="5257800"/>
            <a:ext cx="457200" cy="457200"/>
          </a:xfrm>
          <a:prstGeom prst="ellipse">
            <a:avLst/>
          </a:prstGeom>
          <a:solidFill>
            <a:srgbClr val="C77D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6" descr="icons/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598" y="5360670"/>
            <a:ext cx="251460" cy="2514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00520" y="5202936"/>
            <a:ext cx="4724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producto genera más ingresos?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está construido TRIP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08373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990088"/>
            <a:ext cx="297271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 por componentes (juego, tienda, dashboards)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3458" y="169164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09490" y="1947672"/>
            <a:ext cx="566928" cy="566928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553" y="208373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490" y="2651760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9490" y="2990088"/>
            <a:ext cx="297271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y empaquetado rápido del frontend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58277" y="169164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4309" y="1947672"/>
            <a:ext cx="566928" cy="56692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372" y="208373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651760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4309" y="2990088"/>
            <a:ext cx="297271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relacional, autenticación y funciones SQL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F06A6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418685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54880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93208"/>
            <a:ext cx="297271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 nivel de fila: cada jugador solo ve sus propios datos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3458" y="379476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09490" y="4050792"/>
            <a:ext cx="566928" cy="566928"/>
          </a:xfrm>
          <a:prstGeom prst="ellipse">
            <a:avLst/>
          </a:prstGeom>
          <a:solidFill>
            <a:srgbClr val="C77D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4" descr="icons/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553" y="418685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9490" y="4754880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09490" y="5093208"/>
            <a:ext cx="297271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gráficos en los dashboards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58277" y="379476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4309" y="4050792"/>
            <a:ext cx="566928" cy="566928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372" y="418685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4309" y="4754880"/>
            <a:ext cx="2972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14309" y="5093208"/>
            <a:ext cx="297271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en vivo: compras y partidas se reflejan sin recargar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base de datos a la pantalla: flujo de la información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8028" y="246888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3848" y="2761488"/>
            <a:ext cx="640080" cy="640080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868" y="29215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8028" y="3566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5188" y="391363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SQL generan un historial realista de registros, partidas y compras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09748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512668" y="246888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8488" y="2761488"/>
            <a:ext cx="640080" cy="640080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08" y="292150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2668" y="3566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9828" y="391363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almacena profiles, products, purchases y game_matches, protegidos con RLS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44388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347308" y="246888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93128" y="2761488"/>
            <a:ext cx="640080" cy="640080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148" y="292150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7308" y="3566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React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84468" y="391363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 consultan Supabase y calculan las métricas al vuelo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679028" y="32918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181948" y="246888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768" y="2761488"/>
            <a:ext cx="640080" cy="640080"/>
          </a:xfrm>
          <a:prstGeom prst="ellipse">
            <a:avLst/>
          </a:prstGeom>
          <a:solidFill>
            <a:srgbClr val="9B70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7788" y="2921508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1948" y="3566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19108" y="391363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y cada jugador ven su información en tarjetas y gráficos interactivos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queda separado: los datos no se "inventan" en la pantalla, se calculan a partir de lo que hay en la base de datos.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tablas conectadas por el jugador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08960" y="1988820"/>
            <a:ext cx="2986888" cy="1668780"/>
          </a:xfrm>
          <a:prstGeom prst="line">
            <a:avLst/>
          </a:prstGeom>
          <a:noFill/>
          <a:ln w="15875">
            <a:solidFill>
              <a:srgbClr val="3A3A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3108960" y="3657600"/>
            <a:ext cx="2986888" cy="2034540"/>
          </a:xfrm>
          <a:prstGeom prst="line">
            <a:avLst/>
          </a:prstGeom>
          <a:noFill/>
          <a:ln w="15875">
            <a:solidFill>
              <a:srgbClr val="3A3A5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6095848" y="1988820"/>
            <a:ext cx="2986888" cy="1668780"/>
          </a:xfrm>
          <a:prstGeom prst="line">
            <a:avLst/>
          </a:prstGeom>
          <a:noFill/>
          <a:ln w="15875">
            <a:solidFill>
              <a:srgbClr val="3A3A5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095848" y="3657600"/>
            <a:ext cx="2986888" cy="2034540"/>
          </a:xfrm>
          <a:prstGeom prst="line">
            <a:avLst/>
          </a:prstGeom>
          <a:noFill/>
          <a:ln w="15875">
            <a:solidFill>
              <a:srgbClr val="3A3A5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181448" y="322326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4141F"/>
          </a:solidFill>
          <a:ln w="19050">
            <a:solidFill>
              <a:srgbClr val="9B7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9464" y="3447288"/>
            <a:ext cx="420624" cy="420624"/>
          </a:xfrm>
          <a:prstGeom prst="ellipse">
            <a:avLst/>
          </a:prstGeom>
          <a:solidFill>
            <a:srgbClr val="9B70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3541928"/>
            <a:ext cx="231343" cy="231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03240" y="33147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3240" y="37536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del jugador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77240" y="155448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4141F"/>
          </a:solidFill>
          <a:ln w="19050">
            <a:solidFill>
              <a:srgbClr val="8BC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5256" y="1778508"/>
            <a:ext cx="420624" cy="420624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96" y="1873148"/>
            <a:ext cx="231343" cy="2313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99032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99032" y="20848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la tienda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77240" y="525780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4141F"/>
          </a:solidFill>
          <a:ln w="19050">
            <a:solidFill>
              <a:srgbClr val="E8B86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05256" y="5481828"/>
            <a:ext cx="420624" cy="420624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icons/ti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96" y="5576468"/>
            <a:ext cx="231343" cy="231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99032" y="5349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99032" y="57881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realizadas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9082735" y="155448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4141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10751" y="1778508"/>
            <a:ext cx="420624" cy="420624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3" descr="icons/game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392" y="1873148"/>
            <a:ext cx="231343" cy="23134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04527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game_matches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704527" y="20848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Partidas jugadas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9082735" y="525780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4141F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210751" y="5481828"/>
            <a:ext cx="420624" cy="420624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4" descr="icons/trop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5392" y="5576468"/>
            <a:ext cx="231343" cy="2313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04527" y="5349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leaderboard_best_times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704527" y="57881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tiempos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y game_matches siempre pertenecen a un jugador (profiles). leaderboard_best_times resume las mejores marcas por jugador.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guarda cada tabla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clave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representa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77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A6B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username, role, created_at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6A6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y rol de cada usuario (jugador o admin)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77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A6B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name, description, price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6A6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artículos vendibles en la tienda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77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A6B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user_id, product_id, price_paid, created_at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6A6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compra: quién, qué y cuánto pagó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77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game_matches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A6B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user_id, played_at, duration_seconds, death_type, map_name, damage_received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6A6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partida jugada y su 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77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leaderboard_best_times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A6B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user_id, username, best_time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6A6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tiempo de cada jugador, para el 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 viven en PostgreSQL (Supabase) y están protegidas con Row Level Security: cada jugador solo puede leer sus propios registros.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DUEÑO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dirige el negocio: ¿el juego está funcionando?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de TRIP no juega el juego todos los días: necesita, de un vistazo, saber si crece, si retiene y si vende. El dashboard de administración convierte los datos crudos de Supabase en decisiones.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82296" cy="82296"/>
          </a:xfrm>
          <a:prstGeom prst="ellipse">
            <a:avLst/>
          </a:prstGeom>
          <a:solidFill>
            <a:srgbClr val="F06A6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971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artículo de la tienda priorizar o promocionar?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685032"/>
            <a:ext cx="82296" cy="82296"/>
          </a:xfrm>
          <a:prstGeom prst="ellipse">
            <a:avLst/>
          </a:prstGeom>
          <a:solidFill>
            <a:srgbClr val="F06A6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5387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contenido actual retiene a los jugadores?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82296" cy="82296"/>
          </a:xfrm>
          <a:prstGeom prst="ellipse">
            <a:avLst/>
          </a:prstGeom>
          <a:solidFill>
            <a:srgbClr val="F06A6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41056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lanzar una promoción?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18888"/>
            <a:ext cx="82296" cy="82296"/>
          </a:xfrm>
          <a:prstGeom prst="ellipse">
            <a:avLst/>
          </a:prstGeom>
          <a:solidFill>
            <a:srgbClr val="F06A6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67258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base de jugadores está creciendo o estancada?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1691640"/>
            <a:ext cx="4709160" cy="4434840"/>
          </a:xfrm>
          <a:prstGeom prst="roundRect">
            <a:avLst>
              <a:gd name="adj" fmla="val 2887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8745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· DASHBOARD_ADMIN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7804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42632" y="2487168"/>
            <a:ext cx="475488" cy="47548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9617" y="2594153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27848" y="24323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927848" y="26700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· · ·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37260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37192" y="2487168"/>
            <a:ext cx="475488" cy="47548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177" y="2594153"/>
            <a:ext cx="261518" cy="2615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122408" y="24323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0122408" y="26700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178040" y="3337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42632" y="3538728"/>
            <a:ext cx="475488" cy="475488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2" descr="icons/heartb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17" y="3645713"/>
            <a:ext cx="261518" cy="26151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927848" y="34838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D7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7927848" y="37216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%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9372600" y="3337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537192" y="3538728"/>
            <a:ext cx="475488" cy="475488"/>
          </a:xfrm>
          <a:prstGeom prst="ellipse">
            <a:avLst/>
          </a:prstGeom>
          <a:solidFill>
            <a:srgbClr val="C77D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3" descr="icons/per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177" y="3645713"/>
            <a:ext cx="261518" cy="26151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122408" y="34838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0122408" y="37216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%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7178040" y="46177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gráficos de ingresos, retención, heatmap de actividad, ranking de mapas y filtro de fechas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DUEÑO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cada visualización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84778" cy="1417320"/>
          </a:xfrm>
          <a:prstGeom prst="roundRect">
            <a:avLst>
              <a:gd name="adj" fmla="val 6452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194995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95728"/>
            <a:ext cx="30824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año y mes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88336"/>
            <a:ext cx="30824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ventas de la tienda en el tiempo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53458" y="1645920"/>
            <a:ext cx="3484778" cy="1417320"/>
          </a:xfrm>
          <a:prstGeom prst="roundRect">
            <a:avLst>
              <a:gd name="adj" fmla="val 6452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4626" y="1847088"/>
            <a:ext cx="457200" cy="457200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icons/heartb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96" y="194995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4626" y="2395728"/>
            <a:ext cx="30824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D1 / D7 / D30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54626" y="2688336"/>
            <a:ext cx="30824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jugadores que vuelven tras registrarse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58277" y="1645920"/>
            <a:ext cx="3484778" cy="1417320"/>
          </a:xfrm>
          <a:prstGeom prst="roundRect">
            <a:avLst>
              <a:gd name="adj" fmla="val 6452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9445" y="1847088"/>
            <a:ext cx="457200" cy="457200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315" y="194995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9445" y="2395728"/>
            <a:ext cx="30824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 actividad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59445" y="2688336"/>
            <a:ext cx="30824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la semana y hora con más partidas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484778" cy="1417320"/>
          </a:xfrm>
          <a:prstGeom prst="roundRect">
            <a:avLst>
              <a:gd name="adj" fmla="val 6452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06A6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368731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133088"/>
            <a:ext cx="30824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mapas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425696"/>
            <a:ext cx="30824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más jugado y tiempo promedio por mapa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53458" y="3383280"/>
            <a:ext cx="3484778" cy="1417320"/>
          </a:xfrm>
          <a:prstGeom prst="roundRect">
            <a:avLst>
              <a:gd name="adj" fmla="val 6452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4626" y="3584448"/>
            <a:ext cx="457200" cy="457200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4" descr="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496" y="368731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4626" y="4133088"/>
            <a:ext cx="30824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vs. recurrentes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54626" y="4425696"/>
            <a:ext cx="30824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entre jugadores nuevos y que regresan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58277" y="3383280"/>
            <a:ext cx="3484778" cy="1417320"/>
          </a:xfrm>
          <a:prstGeom prst="roundRect">
            <a:avLst>
              <a:gd name="adj" fmla="val 6452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9445" y="3584448"/>
            <a:ext cx="457200" cy="457200"/>
          </a:xfrm>
          <a:prstGeom prst="ellipse">
            <a:avLst/>
          </a:prstGeom>
          <a:solidFill>
            <a:srgbClr val="C77D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icons/per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315" y="368731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9445" y="4133088"/>
            <a:ext cx="30824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y ticket promedio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59445" y="4425696"/>
            <a:ext cx="30824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que compra y cuánto gasta en promedio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filtro por rango de fechas y semáforos verde / amarillo / rojo en los KPIs críticos (retención y conversión).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JUGADOR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juega: transparencia sobre su propio progreso y gasto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jugador tiene su propio panel, protegido para que solo pueda ver su información. No es un panel de negocio: es un espejo de su experiencia dentro de TRIP.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80944"/>
            <a:ext cx="82296" cy="8229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834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lejos ha llegado en el juego?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47872"/>
            <a:ext cx="82296" cy="8229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4015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su mejor tiempo y en qué lugar del ranking está?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82296" cy="8229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96849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ha gastado en la tienda hasta ahora?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82296" cy="8229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53542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artículos ha comprado?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panel también protege al jugador: al ver claramente cuánto ha gastado, tiene control y visibilidad de su propio consumo.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691640"/>
            <a:ext cx="4709160" cy="4434840"/>
          </a:xfrm>
          <a:prstGeom prst="roundRect">
            <a:avLst>
              <a:gd name="adj" fmla="val 2887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8745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· MIS COMPRAS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228600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24344" y="2386584"/>
            <a:ext cx="457200" cy="457200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7214" y="2489454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09560" y="2359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909560" y="25786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· · ·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78040" y="3090672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24344" y="3191256"/>
            <a:ext cx="457200" cy="457200"/>
          </a:xfrm>
          <a:prstGeom prst="ellipse">
            <a:avLst/>
          </a:prstGeom>
          <a:solidFill>
            <a:srgbClr val="C77D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1" descr="icons/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214" y="3294126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09560" y="31638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909560" y="33832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178040" y="389534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191927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24344" y="3995928"/>
            <a:ext cx="457200" cy="457200"/>
          </a:xfrm>
          <a:prstGeom prst="ellipse">
            <a:avLst/>
          </a:prstGeom>
          <a:solidFill>
            <a:srgbClr val="E8B86D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2" descr="icons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14" y="4098798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909560" y="39684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7909560" y="418795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 ·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178040" y="480974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COMPRAS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7178040" y="5157216"/>
            <a:ext cx="4160520" cy="0"/>
          </a:xfrm>
          <a:prstGeom prst="line">
            <a:avLst/>
          </a:prstGeom>
          <a:noFill/>
          <a:ln w="9525">
            <a:solidFill>
              <a:srgbClr val="26263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178040" y="5212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· Fecha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10607040" y="5212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· ·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178040" y="5495544"/>
            <a:ext cx="4160520" cy="0"/>
          </a:xfrm>
          <a:prstGeom prst="line">
            <a:avLst/>
          </a:prstGeom>
          <a:noFill/>
          <a:ln w="9525">
            <a:solidFill>
              <a:srgbClr val="26263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178040" y="5550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· Fecha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0607040" y="55504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· ·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178040" y="5833872"/>
            <a:ext cx="4160520" cy="0"/>
          </a:xfrm>
          <a:prstGeom prst="line">
            <a:avLst/>
          </a:prstGeom>
          <a:noFill/>
          <a:ln w="9525">
            <a:solidFill>
              <a:srgbClr val="26263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178040" y="58887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· Fecha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10607040" y="58887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· ·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JUGADOR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secciones: cómo juega y cuánto gasta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14141F"/>
          </a:solidFill>
          <a:ln w="15875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9876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juego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697480"/>
            <a:ext cx="384048" cy="38404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71" y="278389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35024" y="27157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Partidas jugadas y tiempo total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264408"/>
            <a:ext cx="384048" cy="38404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350819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35024" y="32826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alcanzados y progreso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3831336"/>
            <a:ext cx="384048" cy="38404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1" y="391774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35024" y="384962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tiempo y posición en el leaderboard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4398264"/>
            <a:ext cx="384048" cy="384048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4" descr="icons/sku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71" y="4484675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35024" y="44165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de muerte más frecuentes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22960" y="5257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muestra al jugador su propio avance: no compite contra el negocio, compite contra su mejor marca.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309360" y="1645920"/>
            <a:ext cx="5333695" cy="4434840"/>
          </a:xfrm>
          <a:prstGeom prst="roundRect">
            <a:avLst>
              <a:gd name="adj" fmla="val 2887"/>
            </a:avLst>
          </a:prstGeom>
          <a:solidFill>
            <a:srgbClr val="14141F"/>
          </a:solidFill>
          <a:ln w="15875">
            <a:solidFill>
              <a:srgbClr val="8BC34A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5" descr="icons/c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837" y="1987677"/>
            <a:ext cx="276606" cy="27660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23760" y="1920240"/>
            <a:ext cx="4144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compras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583680" y="2697480"/>
            <a:ext cx="384048" cy="38404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6" descr="icons/ti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0091" y="2783891"/>
            <a:ext cx="211226" cy="21122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95744" y="2715768"/>
            <a:ext cx="4282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acumulado en la tienda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583680" y="3264408"/>
            <a:ext cx="384048" cy="38404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7" descr="icons/lay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0091" y="3350819"/>
            <a:ext cx="211226" cy="21122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95744" y="3282696"/>
            <a:ext cx="4282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Historial: qué compró y cuándo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6583680" y="3831336"/>
            <a:ext cx="384048" cy="38404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8" descr="icons/troph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0091" y="3917747"/>
            <a:ext cx="211226" cy="21122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95744" y="3849624"/>
            <a:ext cx="4282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favorito (el más repetido)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6583680" y="4398264"/>
            <a:ext cx="384048" cy="384048"/>
          </a:xfrm>
          <a:prstGeom prst="ellipse">
            <a:avLst/>
          </a:prstGeom>
          <a:solidFill>
            <a:srgbClr val="8BC34A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35" name="Image 9" descr="icons/syn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0091" y="4484675"/>
            <a:ext cx="211226" cy="21122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095744" y="4416552"/>
            <a:ext cx="4282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solo, en tiempo real</a:t>
            </a:r>
            <a:endParaRPr lang="en-US" sz="1250" dirty="0"/>
          </a:p>
        </p:txBody>
      </p:sp>
      <p:sp>
        <p:nvSpPr>
          <p:cNvPr id="37" name="Text 25"/>
          <p:cNvSpPr/>
          <p:nvPr/>
        </p:nvSpPr>
        <p:spPr>
          <a:xfrm>
            <a:off x="6583680" y="5257800"/>
            <a:ext cx="47850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sección no existía en el dashboard original: se agregó para que el jugador tenga la misma transparencia de gasto que cualquier tienda digital seria.</a:t>
            </a:r>
            <a:endParaRPr lang="en-US" sz="1150" dirty="0"/>
          </a:p>
        </p:txBody>
      </p:sp>
      <p:sp>
        <p:nvSpPr>
          <p:cNvPr id="38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9B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F06A6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1965960"/>
            <a:ext cx="822960" cy="822960"/>
          </a:xfrm>
          <a:prstGeom prst="ellipse">
            <a:avLst/>
          </a:prstGeom>
          <a:solidFill>
            <a:srgbClr val="9B70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icons/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108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063240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del juego a decisiones de negocio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554480" y="3840480"/>
            <a:ext cx="90827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clara, un flujo de datos ordenado, y dos dashboards — uno para dirigir el negocio y otro para que cada jugador vea su propio progreso.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· Pixel Path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2026-08-20T04:10:01Z</dcterms:created>
  <dcterms:modified xsi:type="dcterms:W3CDTF">2026-08-20T04:10:01Z</dcterms:modified>
</cp:coreProperties>
</file>